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media/image1.jpeg" ContentType="image/jpeg"/>
  <Override PartName="/ppt/media/image2.png" ContentType="image/png"/>
  <Override PartName="/ppt/media/image4.jpeg" ContentType="image/jpeg"/>
  <Override PartName="/ppt/media/image3.jpeg" ContentType="image/jpe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48642B6-DB78-4B5A-A75A-F7A0E30FF61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3B89F5-1744-4D21-B672-ABC0FF67C3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D0839C-4E5B-4035-98A7-C89745660D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81DB49-6143-44C8-A35D-AC763611F2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E0626A-6B39-4B0E-B793-69441F6FAA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16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23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661320" y="693000"/>
            <a:ext cx="108684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950" spc="-1" strike="noStrike">
                <a:solidFill>
                  <a:srgbClr val="1b1b27"/>
                </a:solidFill>
                <a:latin typeface="Raleway"/>
                <a:ea typeface="Raleway"/>
              </a:rPr>
              <a:t>The Problem &amp; Solution</a:t>
            </a:r>
            <a:endParaRPr b="0" lang="en-IN" sz="2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552600" y="1346760"/>
            <a:ext cx="5467320" cy="4817880"/>
          </a:xfrm>
          <a:prstGeom prst="roundRect">
            <a:avLst>
              <a:gd name="adj" fmla="val 2260"/>
            </a:avLst>
          </a:prstGeom>
          <a:solidFill>
            <a:srgbClr val="1b1b27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703800" y="1482840"/>
            <a:ext cx="987120" cy="229320"/>
          </a:xfrm>
          <a:prstGeom prst="roundRect">
            <a:avLst>
              <a:gd name="adj" fmla="val 22120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794520" y="1528200"/>
            <a:ext cx="1415520" cy="1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0000"/>
                </a:solidFill>
                <a:latin typeface="Roboto"/>
                <a:ea typeface="Roboto"/>
              </a:rPr>
              <a:t>THE PROBLEM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703800" y="1760760"/>
            <a:ext cx="51649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Raleway"/>
                <a:ea typeface="Raleway"/>
              </a:rPr>
              <a:t>What's Holding Teams Back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Image 0" descr="preencoded.png"/>
          <p:cNvPicPr/>
          <p:nvPr/>
        </p:nvPicPr>
        <p:blipFill>
          <a:blip r:embed="rId1"/>
          <a:stretch/>
        </p:blipFill>
        <p:spPr>
          <a:xfrm>
            <a:off x="760320" y="213768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38" name="Text 5"/>
          <p:cNvSpPr/>
          <p:nvPr/>
        </p:nvSpPr>
        <p:spPr>
          <a:xfrm>
            <a:off x="1195200" y="2133000"/>
            <a:ext cx="4673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Raleway"/>
                <a:ea typeface="Raleway"/>
              </a:rPr>
              <a:t>Fragmented Data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1195200" y="2490120"/>
            <a:ext cx="46735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Roboto"/>
                <a:ea typeface="Roboto"/>
              </a:rPr>
              <a:t>Project plans, status reports, and communication logs siloed across systems</a:t>
            </a: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Image 1" descr="preencoded.png"/>
          <p:cNvPicPr/>
          <p:nvPr/>
        </p:nvPicPr>
        <p:blipFill>
          <a:blip r:embed="rId2"/>
          <a:stretch/>
        </p:blipFill>
        <p:spPr>
          <a:xfrm>
            <a:off x="760320" y="317232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41" name="Text 7"/>
          <p:cNvSpPr/>
          <p:nvPr/>
        </p:nvSpPr>
        <p:spPr>
          <a:xfrm>
            <a:off x="1195200" y="3167640"/>
            <a:ext cx="4673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Raleway"/>
                <a:ea typeface="Raleway"/>
              </a:rPr>
              <a:t>Manual Risk Analysis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1195200" y="3524760"/>
            <a:ext cx="46735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Roboto"/>
                <a:ea typeface="Roboto"/>
              </a:rPr>
              <a:t>Time-consuming and subjective, leading to inconsistent prioritization</a:t>
            </a: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" name="Image 2" descr="preencoded.png"/>
          <p:cNvPicPr/>
          <p:nvPr/>
        </p:nvPicPr>
        <p:blipFill>
          <a:blip r:embed="rId3"/>
          <a:stretch/>
        </p:blipFill>
        <p:spPr>
          <a:xfrm>
            <a:off x="760320" y="398880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44" name="Text 9"/>
          <p:cNvSpPr/>
          <p:nvPr/>
        </p:nvSpPr>
        <p:spPr>
          <a:xfrm>
            <a:off x="1195200" y="3984480"/>
            <a:ext cx="4673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Raleway"/>
                <a:ea typeface="Raleway"/>
              </a:rPr>
              <a:t>No AI Automation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1195200" y="4341600"/>
            <a:ext cx="46735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Roboto"/>
                <a:ea typeface="Roboto"/>
              </a:rPr>
              <a:t>Lack of intelligent systems to analyze diverse data and automate communication</a:t>
            </a: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3" descr="preencoded.png"/>
          <p:cNvPicPr/>
          <p:nvPr/>
        </p:nvPicPr>
        <p:blipFill>
          <a:blip r:embed="rId4"/>
          <a:stretch/>
        </p:blipFill>
        <p:spPr>
          <a:xfrm>
            <a:off x="760320" y="502344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47" name="Text 11"/>
          <p:cNvSpPr/>
          <p:nvPr/>
        </p:nvSpPr>
        <p:spPr>
          <a:xfrm>
            <a:off x="1195200" y="5018760"/>
            <a:ext cx="4673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Raleway"/>
                <a:ea typeface="Raleway"/>
              </a:rPr>
              <a:t>Cascading Failures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1195200" y="5375880"/>
            <a:ext cx="46735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Roboto"/>
                <a:ea typeface="Roboto"/>
              </a:rPr>
              <a:t>Delays, budget overruns, and stakeholder dissatisfaction</a:t>
            </a: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6286680" y="1482840"/>
            <a:ext cx="1008000" cy="229320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1b1b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6377400" y="1528200"/>
            <a:ext cx="1436400" cy="1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b1b27"/>
                </a:solidFill>
                <a:latin typeface="Roboto"/>
                <a:ea typeface="Roboto"/>
              </a:rPr>
              <a:t>THE SOLUTION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6286680" y="1760760"/>
            <a:ext cx="5249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b1b27"/>
                </a:solidFill>
                <a:latin typeface="Raleway"/>
                <a:ea typeface="Raleway"/>
              </a:rPr>
              <a:t>AI-Powered Program Intelligence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Image 4" descr="preencoded.png"/>
          <p:cNvPicPr/>
          <p:nvPr/>
        </p:nvPicPr>
        <p:blipFill>
          <a:blip r:embed="rId5"/>
          <a:stretch/>
        </p:blipFill>
        <p:spPr>
          <a:xfrm>
            <a:off x="6343200" y="213768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53" name="Text 16"/>
          <p:cNvSpPr/>
          <p:nvPr/>
        </p:nvSpPr>
        <p:spPr>
          <a:xfrm>
            <a:off x="6778080" y="2133000"/>
            <a:ext cx="47581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3c3939"/>
                </a:solidFill>
                <a:latin typeface="Raleway"/>
                <a:ea typeface="Raleway"/>
              </a:rPr>
              <a:t>Multi-Agent AI System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6778080" y="2490120"/>
            <a:ext cx="47581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c3939"/>
                </a:solidFill>
                <a:latin typeface="Roboto"/>
                <a:ea typeface="Roboto"/>
              </a:rPr>
              <a:t>Synthesizes project data to detect risks and generate mitigation plans automatically</a:t>
            </a: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" name="Image 5" descr="preencoded.png"/>
          <p:cNvPicPr/>
          <p:nvPr/>
        </p:nvPicPr>
        <p:blipFill>
          <a:blip r:embed="rId6"/>
          <a:stretch/>
        </p:blipFill>
        <p:spPr>
          <a:xfrm>
            <a:off x="6343200" y="317232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56" name="Text 18"/>
          <p:cNvSpPr/>
          <p:nvPr/>
        </p:nvSpPr>
        <p:spPr>
          <a:xfrm>
            <a:off x="6778080" y="3167640"/>
            <a:ext cx="47581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3c3939"/>
                </a:solidFill>
                <a:latin typeface="Raleway"/>
                <a:ea typeface="Raleway"/>
              </a:rPr>
              <a:t>Automated Communications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6778080" y="3524760"/>
            <a:ext cx="47581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c3939"/>
                </a:solidFill>
                <a:latin typeface="Roboto"/>
                <a:ea typeface="Roboto"/>
              </a:rPr>
              <a:t>Stakeholder messages customized by audience and role — no manual drafting</a:t>
            </a: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Image 6" descr="preencoded.png"/>
          <p:cNvPicPr/>
          <p:nvPr/>
        </p:nvPicPr>
        <p:blipFill>
          <a:blip r:embed="rId7"/>
          <a:stretch/>
        </p:blipFill>
        <p:spPr>
          <a:xfrm>
            <a:off x="6343200" y="420660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59" name="Text 20"/>
          <p:cNvSpPr/>
          <p:nvPr/>
        </p:nvSpPr>
        <p:spPr>
          <a:xfrm>
            <a:off x="6778080" y="4201920"/>
            <a:ext cx="47581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3c3939"/>
                </a:solidFill>
                <a:latin typeface="Raleway"/>
                <a:ea typeface="Raleway"/>
              </a:rPr>
              <a:t>Interactive Risk Dashboard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6778080" y="4559040"/>
            <a:ext cx="47581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c3939"/>
                </a:solidFill>
                <a:latin typeface="Roboto Bold"/>
                <a:ea typeface="Roboto Bold"/>
              </a:rPr>
              <a:t>60% reduction</a:t>
            </a:r>
            <a:r>
              <a:rPr b="0" lang="en-US" sz="1150" spc="-1" strike="noStrike">
                <a:solidFill>
                  <a:srgbClr val="3c3939"/>
                </a:solidFill>
                <a:latin typeface="Roboto"/>
                <a:ea typeface="Roboto"/>
              </a:rPr>
              <a:t> in communication drafting time with real-time risk visibility</a:t>
            </a: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" name="Image 7" descr="preencoded.png"/>
          <p:cNvPicPr/>
          <p:nvPr/>
        </p:nvPicPr>
        <p:blipFill>
          <a:blip r:embed="rId8"/>
          <a:stretch/>
        </p:blipFill>
        <p:spPr>
          <a:xfrm>
            <a:off x="6343200" y="5241240"/>
            <a:ext cx="226440" cy="226440"/>
          </a:xfrm>
          <a:prstGeom prst="rect">
            <a:avLst/>
          </a:prstGeom>
          <a:ln w="0">
            <a:noFill/>
          </a:ln>
        </p:spPr>
      </p:pic>
      <p:sp>
        <p:nvSpPr>
          <p:cNvPr id="62" name="Text 22"/>
          <p:cNvSpPr/>
          <p:nvPr/>
        </p:nvSpPr>
        <p:spPr>
          <a:xfrm>
            <a:off x="6778080" y="5236560"/>
            <a:ext cx="47581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3c3939"/>
                </a:solidFill>
                <a:latin typeface="Raleway"/>
                <a:ea typeface="Raleway"/>
              </a:rPr>
              <a:t>Seamless Integration</a:t>
            </a:r>
            <a:endParaRPr b="0" lang="en-IN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6778080" y="5593680"/>
            <a:ext cx="47581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c3939"/>
                </a:solidFill>
                <a:latin typeface="Roboto"/>
                <a:ea typeface="Roboto"/>
              </a:rPr>
              <a:t>Role-based authentication and integration with PM and communication tools</a:t>
            </a:r>
            <a:endParaRPr b="0" lang="en-IN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2026-08-08T05:39:17Z</dcterms:created>
  <dc:creator/>
  <dc:description/>
  <dc:language>en-IN</dc:language>
  <cp:lastModifiedBy/>
  <dcterms:modified xsi:type="dcterms:W3CDTF">2026-08-08T11:38:47Z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